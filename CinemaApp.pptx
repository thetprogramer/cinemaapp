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6" r:id="rId11"/>
    <p:sldId id="263" r:id="rId12"/>
    <p:sldId id="268" r:id="rId13"/>
    <p:sldId id="269" r:id="rId14"/>
    <p:sldId id="275" r:id="rId15"/>
    <p:sldId id="274" r:id="rId16"/>
    <p:sldId id="270" r:id="rId17"/>
    <p:sldId id="271" r:id="rId18"/>
    <p:sldId id="272" r:id="rId19"/>
    <p:sldId id="273" r:id="rId20"/>
    <p:sldId id="265" r:id="rId21"/>
  </p:sldIdLst>
  <p:sldSz cx="18288000" cy="10287000"/>
  <p:notesSz cx="6858000" cy="9144000"/>
  <p:embeddedFontLst>
    <p:embeddedFont>
      <p:font typeface="Palatino" panose="020B0604020202020204" charset="0"/>
      <p:regular r:id="rId22"/>
    </p:embeddedFont>
    <p:embeddedFont>
      <p:font typeface="Murecho Bold" panose="020B0604020202020204" charset="-128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Palatino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CF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5200" y="-801857"/>
            <a:ext cx="19109456" cy="11228511"/>
          </a:xfrm>
          <a:custGeom>
            <a:avLst/>
            <a:gdLst/>
            <a:ahLst/>
            <a:cxnLst/>
            <a:rect l="l" t="t" r="r" b="b"/>
            <a:pathLst>
              <a:path w="19109456" h="11228511">
                <a:moveTo>
                  <a:pt x="0" y="0"/>
                </a:moveTo>
                <a:lnTo>
                  <a:pt x="19109455" y="0"/>
                </a:lnTo>
                <a:lnTo>
                  <a:pt x="19109455" y="11228510"/>
                </a:lnTo>
                <a:lnTo>
                  <a:pt x="0" y="11228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8" b="-42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35200" y="-419100"/>
            <a:ext cx="3097510" cy="10874032"/>
          </a:xfrm>
          <a:custGeom>
            <a:avLst/>
            <a:gdLst/>
            <a:ahLst/>
            <a:cxnLst/>
            <a:rect l="l" t="t" r="r" b="b"/>
            <a:pathLst>
              <a:path w="5382646" h="10874032">
                <a:moveTo>
                  <a:pt x="0" y="0"/>
                </a:moveTo>
                <a:lnTo>
                  <a:pt x="5382646" y="0"/>
                </a:lnTo>
                <a:lnTo>
                  <a:pt x="5382646" y="10874031"/>
                </a:lnTo>
                <a:lnTo>
                  <a:pt x="0" y="10874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380394" y="5491292"/>
            <a:ext cx="5710447" cy="3386008"/>
            <a:chOff x="0" y="-973618"/>
            <a:chExt cx="2093308" cy="1334059"/>
          </a:xfrm>
        </p:grpSpPr>
        <p:sp>
          <p:nvSpPr>
            <p:cNvPr id="12" name="Freeform 12"/>
            <p:cNvSpPr/>
            <p:nvPr/>
          </p:nvSpPr>
          <p:spPr>
            <a:xfrm>
              <a:off x="944894" y="-973618"/>
              <a:ext cx="1148414" cy="556728"/>
            </a:xfrm>
            <a:custGeom>
              <a:avLst/>
              <a:gdLst/>
              <a:ahLst/>
              <a:cxnLst/>
              <a:rect l="l" t="t" r="r" b="b"/>
              <a:pathLst>
                <a:path w="1205135" h="360441">
                  <a:moveTo>
                    <a:pt x="1001935" y="0"/>
                  </a:moveTo>
                  <a:cubicBezTo>
                    <a:pt x="1114159" y="0"/>
                    <a:pt x="1205135" y="80687"/>
                    <a:pt x="1205135" y="180220"/>
                  </a:cubicBezTo>
                  <a:cubicBezTo>
                    <a:pt x="1205135" y="279753"/>
                    <a:pt x="1114159" y="360441"/>
                    <a:pt x="1001935" y="360441"/>
                  </a:cubicBezTo>
                  <a:lnTo>
                    <a:pt x="203200" y="360441"/>
                  </a:lnTo>
                  <a:cubicBezTo>
                    <a:pt x="90976" y="360441"/>
                    <a:pt x="0" y="279753"/>
                    <a:pt x="0" y="180220"/>
                  </a:cubicBezTo>
                  <a:cubicBezTo>
                    <a:pt x="0" y="806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CFCE"/>
            </a:solidFill>
          </p:spPr>
          <p:txBody>
            <a:bodyPr/>
            <a:lstStyle/>
            <a:p>
              <a:pPr algn="ctr"/>
              <a:r>
                <a:rPr lang="bg-BG" sz="4000" dirty="0"/>
                <a:t>Тодор Димитров</a:t>
              </a:r>
              <a:endParaRPr lang="en-US" sz="400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05135" cy="398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6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85240" y="2426811"/>
            <a:ext cx="11945562" cy="162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659"/>
              </a:lnSpc>
            </a:pPr>
            <a:r>
              <a:rPr lang="en-US" sz="12000" b="1" dirty="0" smtClean="0">
                <a:solidFill>
                  <a:schemeClr val="tx2">
                    <a:lumMod val="75000"/>
                  </a:schemeClr>
                </a:solidFill>
                <a:latin typeface="Murecho Bold"/>
                <a:ea typeface="Murecho Bold"/>
                <a:cs typeface="Murecho Bold"/>
                <a:sym typeface="Murecho Bold"/>
              </a:rPr>
              <a:t>CINEMA</a:t>
            </a:r>
            <a:r>
              <a:rPr lang="en-US" sz="12000" b="1" dirty="0" smtClean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en-US" sz="12000" b="1" dirty="0" smtClean="0">
                <a:solidFill>
                  <a:schemeClr val="tx2">
                    <a:lumMod val="75000"/>
                  </a:schemeClr>
                </a:solidFill>
                <a:latin typeface="Murecho Bold"/>
                <a:ea typeface="Murecho Bold"/>
                <a:cs typeface="Murecho Bold"/>
                <a:sym typeface="Murecho Bold"/>
              </a:rPr>
              <a:t>App</a:t>
            </a:r>
            <a:endParaRPr lang="en-US" sz="12000" b="1" dirty="0">
              <a:solidFill>
                <a:schemeClr val="tx2">
                  <a:lumMod val="75000"/>
                </a:schemeClr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16" name="Стрелка надясно 15">
            <a:extLst>
              <a:ext uri="{FF2B5EF4-FFF2-40B4-BE49-F238E27FC236}">
                <a16:creationId xmlns:a16="http://schemas.microsoft.com/office/drawing/2014/main" id="{3ADDDF5C-9169-CDC3-1490-C484C6B66CEE}"/>
              </a:ext>
            </a:extLst>
          </p:cNvPr>
          <p:cNvSpPr/>
          <p:nvPr/>
        </p:nvSpPr>
        <p:spPr>
          <a:xfrm>
            <a:off x="4263356" y="5797327"/>
            <a:ext cx="5341436" cy="2518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400" dirty="0"/>
              <a:t>Изготвено от:</a:t>
            </a:r>
            <a:endParaRPr lang="en-US" sz="4400" dirty="0"/>
          </a:p>
        </p:txBody>
      </p:sp>
      <p:grpSp>
        <p:nvGrpSpPr>
          <p:cNvPr id="15" name="Group 11"/>
          <p:cNvGrpSpPr/>
          <p:nvPr/>
        </p:nvGrpSpPr>
        <p:grpSpPr>
          <a:xfrm>
            <a:off x="9219528" y="7077021"/>
            <a:ext cx="5501573" cy="2348035"/>
            <a:chOff x="0" y="-564665"/>
            <a:chExt cx="2016740" cy="925106"/>
          </a:xfrm>
        </p:grpSpPr>
        <p:sp>
          <p:nvSpPr>
            <p:cNvPr id="17" name="Freeform 12"/>
            <p:cNvSpPr/>
            <p:nvPr/>
          </p:nvSpPr>
          <p:spPr>
            <a:xfrm>
              <a:off x="868326" y="-564665"/>
              <a:ext cx="1148414" cy="556728"/>
            </a:xfrm>
            <a:custGeom>
              <a:avLst/>
              <a:gdLst/>
              <a:ahLst/>
              <a:cxnLst/>
              <a:rect l="l" t="t" r="r" b="b"/>
              <a:pathLst>
                <a:path w="1205135" h="360441">
                  <a:moveTo>
                    <a:pt x="1001935" y="0"/>
                  </a:moveTo>
                  <a:cubicBezTo>
                    <a:pt x="1114159" y="0"/>
                    <a:pt x="1205135" y="80687"/>
                    <a:pt x="1205135" y="180220"/>
                  </a:cubicBezTo>
                  <a:cubicBezTo>
                    <a:pt x="1205135" y="279753"/>
                    <a:pt x="1114159" y="360441"/>
                    <a:pt x="1001935" y="360441"/>
                  </a:cubicBezTo>
                  <a:lnTo>
                    <a:pt x="203200" y="360441"/>
                  </a:lnTo>
                  <a:cubicBezTo>
                    <a:pt x="90976" y="360441"/>
                    <a:pt x="0" y="279753"/>
                    <a:pt x="0" y="180220"/>
                  </a:cubicBezTo>
                  <a:cubicBezTo>
                    <a:pt x="0" y="806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CFCE"/>
            </a:solidFill>
          </p:spPr>
          <p:txBody>
            <a:bodyPr/>
            <a:lstStyle/>
            <a:p>
              <a:pPr algn="ctr"/>
              <a:r>
                <a:rPr lang="bg-BG" sz="4000" dirty="0" smtClean="0"/>
                <a:t>Аслъ Караджа</a:t>
              </a:r>
              <a:endParaRPr lang="en-US" sz="4000" dirty="0"/>
            </a:p>
          </p:txBody>
        </p:sp>
        <p:sp>
          <p:nvSpPr>
            <p:cNvPr id="18" name="TextBox 13"/>
            <p:cNvSpPr txBox="1"/>
            <p:nvPr/>
          </p:nvSpPr>
          <p:spPr>
            <a:xfrm>
              <a:off x="0" y="-38100"/>
              <a:ext cx="1205135" cy="398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600"/>
            </a:p>
          </p:txBody>
        </p:sp>
      </p:grpSp>
      <p:grpSp>
        <p:nvGrpSpPr>
          <p:cNvPr id="19" name="Group 11"/>
          <p:cNvGrpSpPr/>
          <p:nvPr/>
        </p:nvGrpSpPr>
        <p:grpSpPr>
          <a:xfrm>
            <a:off x="7532794" y="5491292"/>
            <a:ext cx="8858825" cy="3538408"/>
            <a:chOff x="0" y="-1033662"/>
            <a:chExt cx="3247425" cy="1394103"/>
          </a:xfrm>
        </p:grpSpPr>
        <p:sp>
          <p:nvSpPr>
            <p:cNvPr id="20" name="Freeform 12"/>
            <p:cNvSpPr/>
            <p:nvPr/>
          </p:nvSpPr>
          <p:spPr>
            <a:xfrm>
              <a:off x="2099011" y="-1033662"/>
              <a:ext cx="1148414" cy="556728"/>
            </a:xfrm>
            <a:custGeom>
              <a:avLst/>
              <a:gdLst/>
              <a:ahLst/>
              <a:cxnLst/>
              <a:rect l="l" t="t" r="r" b="b"/>
              <a:pathLst>
                <a:path w="1205135" h="360441">
                  <a:moveTo>
                    <a:pt x="1001935" y="0"/>
                  </a:moveTo>
                  <a:cubicBezTo>
                    <a:pt x="1114159" y="0"/>
                    <a:pt x="1205135" y="80687"/>
                    <a:pt x="1205135" y="180220"/>
                  </a:cubicBezTo>
                  <a:cubicBezTo>
                    <a:pt x="1205135" y="279753"/>
                    <a:pt x="1114159" y="360441"/>
                    <a:pt x="1001935" y="360441"/>
                  </a:cubicBezTo>
                  <a:lnTo>
                    <a:pt x="203200" y="360441"/>
                  </a:lnTo>
                  <a:cubicBezTo>
                    <a:pt x="90976" y="360441"/>
                    <a:pt x="0" y="279753"/>
                    <a:pt x="0" y="180220"/>
                  </a:cubicBezTo>
                  <a:cubicBezTo>
                    <a:pt x="0" y="806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CFCE"/>
            </a:solidFill>
          </p:spPr>
          <p:txBody>
            <a:bodyPr/>
            <a:lstStyle/>
            <a:p>
              <a:pPr algn="ctr"/>
              <a:r>
                <a:rPr lang="bg-BG" sz="4000" dirty="0" smtClean="0"/>
                <a:t>Денислав Стаменов</a:t>
              </a:r>
              <a:endParaRPr lang="en-US" sz="4000" dirty="0"/>
            </a:p>
          </p:txBody>
        </p:sp>
        <p:sp>
          <p:nvSpPr>
            <p:cNvPr id="21" name="TextBox 13"/>
            <p:cNvSpPr txBox="1"/>
            <p:nvPr/>
          </p:nvSpPr>
          <p:spPr>
            <a:xfrm>
              <a:off x="0" y="-38100"/>
              <a:ext cx="1205135" cy="398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4362" y="-266909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6124083" y="0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6"/>
                </a:lnTo>
                <a:lnTo>
                  <a:pt x="2691323" y="10623446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450133" y="454384"/>
            <a:ext cx="3086100" cy="30861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786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836076"/>
            <a:ext cx="10241374" cy="252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877" lvl="1" indent="-785939" algn="l">
              <a:lnSpc>
                <a:spcPts val="10192"/>
              </a:lnSpc>
              <a:buFont typeface="Arial"/>
              <a:buChar char="•"/>
            </a:pPr>
            <a:r>
              <a:rPr lang="en-US" sz="728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Защо избрахме тази тема?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301" y="3462926"/>
            <a:ext cx="13996526" cy="7271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Избрахме тази тема, защото филмите  предоставят богата и структурирана информация, която може да се управлява чрез приложение.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Проектът цели да създаде система </a:t>
            </a:r>
            <a:r>
              <a:rPr lang="en-US" sz="4500" dirty="0" err="1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за</a:t>
            </a:r>
            <a:r>
              <a:rPr lang="en-US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lang="bg-BG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управление</a:t>
            </a:r>
            <a:r>
              <a:rPr lang="en-US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lang="en-US" sz="4500" dirty="0" err="1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на</a:t>
            </a:r>
            <a:r>
              <a:rPr lang="bg-BG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кино</a:t>
            </a:r>
            <a:r>
              <a:rPr lang="en-US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, </a:t>
            </a:r>
            <a:r>
              <a:rPr lang="en-US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позволяваща добавяне, търсене, филтриране и </a:t>
            </a:r>
            <a:r>
              <a:rPr lang="en-US" sz="4500" dirty="0" err="1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пр</a:t>
            </a:r>
            <a:r>
              <a:rPr lang="bg-BG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о</a:t>
            </a:r>
            <a:r>
              <a:rPr lang="bg-BG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м</a:t>
            </a:r>
            <a:r>
              <a:rPr lang="en-US" sz="4500" dirty="0" err="1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ен</a:t>
            </a:r>
            <a:r>
              <a:rPr lang="bg-BG" sz="4500" dirty="0" err="1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ян</a:t>
            </a:r>
            <a:r>
              <a:rPr lang="en-US" sz="4500" dirty="0" smtClean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е </a:t>
            </a:r>
            <a:r>
              <a:rPr lang="en-US" sz="4500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на информация за различни заглавия.</a:t>
            </a:r>
          </a:p>
          <a:p>
            <a:pPr algn="l">
              <a:lnSpc>
                <a:spcPts val="6299"/>
              </a:lnSpc>
            </a:pPr>
            <a:endParaRPr lang="en-US" sz="4500" dirty="0">
              <a:solidFill>
                <a:srgbClr val="00000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0884" y="141339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-477785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5"/>
                </a:lnTo>
                <a:lnTo>
                  <a:pt x="2691323" y="10623445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550397" y="1614312"/>
            <a:ext cx="8413728" cy="2503084"/>
          </a:xfrm>
          <a:custGeom>
            <a:avLst/>
            <a:gdLst/>
            <a:ahLst/>
            <a:cxnLst/>
            <a:rect l="l" t="t" r="r" b="b"/>
            <a:pathLst>
              <a:path w="8413728" h="2503084">
                <a:moveTo>
                  <a:pt x="0" y="0"/>
                </a:moveTo>
                <a:lnTo>
                  <a:pt x="8413728" y="0"/>
                </a:lnTo>
                <a:lnTo>
                  <a:pt x="8413728" y="2503085"/>
                </a:lnTo>
                <a:lnTo>
                  <a:pt x="0" y="25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619345" y="2079506"/>
            <a:ext cx="66261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ОЩЕ...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24723" y="5590369"/>
            <a:ext cx="13873969" cy="226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876" lvl="1" indent="-457438" algn="just">
              <a:lnSpc>
                <a:spcPts val="5932"/>
              </a:lnSpc>
              <a:buFont typeface="Arial"/>
              <a:buChar char="•"/>
            </a:pPr>
            <a:r>
              <a:rPr lang="en-US" sz="4237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Темата е подходяща, защото ни позволява да покажем работа с база данни, CRUD операции и визуализация на данни </a:t>
            </a:r>
            <a:r>
              <a:rPr lang="en-US" sz="4237" b="1" dirty="0" err="1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чрез</a:t>
            </a:r>
            <a:r>
              <a:rPr lang="en-US" sz="4237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4237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интерфейс</a:t>
            </a:r>
            <a:r>
              <a:rPr lang="bg-BG" sz="423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</a:t>
            </a:r>
            <a:r>
              <a:rPr lang="en-US" sz="423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. </a:t>
            </a:r>
            <a:endParaRPr lang="en-US" sz="4237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  <p:sp>
        <p:nvSpPr>
          <p:cNvPr id="7" name="Звезда: 4 лъча 6">
            <a:extLst>
              <a:ext uri="{FF2B5EF4-FFF2-40B4-BE49-F238E27FC236}">
                <a16:creationId xmlns:a16="http://schemas.microsoft.com/office/drawing/2014/main" id="{DC6D7B36-C765-20DA-6A96-DE55C21D1C1F}"/>
              </a:ext>
            </a:extLst>
          </p:cNvPr>
          <p:cNvSpPr/>
          <p:nvPr/>
        </p:nvSpPr>
        <p:spPr>
          <a:xfrm>
            <a:off x="14727539" y="1265654"/>
            <a:ext cx="3103261" cy="3200400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400" y="-846714"/>
            <a:ext cx="19628980" cy="11041301"/>
          </a:xfrm>
          <a:custGeom>
            <a:avLst/>
            <a:gdLst/>
            <a:ahLst/>
            <a:cxnLst/>
            <a:rect l="l" t="t" r="r" b="b"/>
            <a:pathLst>
              <a:path w="19628980" h="11041301">
                <a:moveTo>
                  <a:pt x="0" y="0"/>
                </a:moveTo>
                <a:lnTo>
                  <a:pt x="19628980" y="0"/>
                </a:lnTo>
                <a:lnTo>
                  <a:pt x="19628980" y="11041302"/>
                </a:lnTo>
                <a:lnTo>
                  <a:pt x="0" y="1104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40" b="-8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70870" y="3091567"/>
            <a:ext cx="15688430" cy="626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ts val="54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bg-BG" sz="3886" b="1" dirty="0" err="1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Д</a:t>
            </a:r>
            <a:r>
              <a:rPr lang="en-US" sz="388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а </a:t>
            </a:r>
            <a:r>
              <a:rPr lang="en-US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се създаде трислойно приложение за управление </a:t>
            </a:r>
            <a:r>
              <a:rPr lang="en-US" sz="3886" b="1" dirty="0" err="1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на</a:t>
            </a:r>
            <a:r>
              <a:rPr lang="en-US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bg-BG" sz="388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кино</a:t>
            </a:r>
            <a:r>
              <a:rPr lang="en-US" sz="388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, </a:t>
            </a:r>
            <a:r>
              <a:rPr lang="en-US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което организира и обработва информацията по структуриран и ефективен начин.</a:t>
            </a:r>
          </a:p>
          <a:p>
            <a:pPr algn="just">
              <a:lnSpc>
                <a:spcPts val="5440"/>
              </a:lnSpc>
              <a:spcBef>
                <a:spcPct val="0"/>
              </a:spcBef>
            </a:pPr>
            <a:endParaRPr lang="en-US" sz="3886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571500" indent="-571500" algn="just">
              <a:lnSpc>
                <a:spcPts val="54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bg-BG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Д</a:t>
            </a:r>
            <a:r>
              <a:rPr lang="en-US" sz="388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а </a:t>
            </a:r>
            <a:r>
              <a:rPr lang="en-US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решава проблема с хаотичното съхранение на информация за филми, като разделя логиката, данните и потребителския интерфейс</a:t>
            </a:r>
          </a:p>
          <a:p>
            <a:pPr algn="just">
              <a:lnSpc>
                <a:spcPts val="5440"/>
              </a:lnSpc>
              <a:spcBef>
                <a:spcPct val="0"/>
              </a:spcBef>
            </a:pPr>
            <a:endParaRPr lang="en-US" sz="3886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algn="just">
              <a:lnSpc>
                <a:spcPts val="5440"/>
              </a:lnSpc>
              <a:spcBef>
                <a:spcPct val="0"/>
              </a:spcBef>
            </a:pPr>
            <a:r>
              <a:rPr lang="en-US" sz="388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04099" y="945990"/>
            <a:ext cx="7336217" cy="132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5"/>
              </a:lnSpc>
            </a:pPr>
            <a:r>
              <a:rPr lang="en-US" sz="776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Цел на проекта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1832" y="-395807"/>
            <a:ext cx="19092643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bg-BG" sz="4400" dirty="0"/>
          </a:p>
          <a:p>
            <a:endParaRPr lang="bg-BG" sz="4400" dirty="0"/>
          </a:p>
          <a:p>
            <a:endParaRPr lang="bg-BG" sz="4400" dirty="0"/>
          </a:p>
          <a:p>
            <a:endParaRPr lang="bg-BG" sz="4400" dirty="0"/>
          </a:p>
          <a:p>
            <a:endParaRPr lang="bg-BG" sz="4400" dirty="0"/>
          </a:p>
          <a:p>
            <a:endParaRPr lang="bg-BG" sz="4400" dirty="0"/>
          </a:p>
          <a:p>
            <a:endParaRPr lang="bg-BG" sz="4400" dirty="0"/>
          </a:p>
          <a:p>
            <a:pPr algn="ctr"/>
            <a:r>
              <a:rPr lang="bg-BG" sz="4400" dirty="0"/>
              <a:t>                        </a:t>
            </a:r>
          </a:p>
          <a:p>
            <a:pPr algn="ctr"/>
            <a:r>
              <a:rPr lang="en-US" sz="4400" dirty="0"/>
              <a:t>Data Layer: </a:t>
            </a:r>
            <a:r>
              <a:rPr lang="bg-BG" sz="4400" dirty="0"/>
              <a:t>модели, </a:t>
            </a:r>
            <a:r>
              <a:rPr lang="en-US" sz="4400" dirty="0"/>
              <a:t>DbContext, </a:t>
            </a:r>
            <a:r>
              <a:rPr lang="bg-BG" sz="4400" dirty="0"/>
              <a:t>таблици в базата</a:t>
            </a:r>
          </a:p>
          <a:p>
            <a:pPr algn="ctr"/>
            <a:endParaRPr lang="bg-BG" sz="4400" dirty="0"/>
          </a:p>
          <a:p>
            <a:pPr algn="ctr"/>
            <a:r>
              <a:rPr lang="en-US" sz="4400" dirty="0"/>
              <a:t>Service Layer: CRUD </a:t>
            </a:r>
            <a:r>
              <a:rPr lang="bg-BG" sz="4400" dirty="0"/>
              <a:t>операции, бизнес логика, тестове</a:t>
            </a:r>
          </a:p>
          <a:p>
            <a:pPr algn="ctr"/>
            <a:endParaRPr lang="bg-BG" sz="4400" dirty="0"/>
          </a:p>
          <a:p>
            <a:pPr algn="ctr"/>
            <a:r>
              <a:rPr lang="en-US" sz="4400" dirty="0"/>
              <a:t>Presentation Layer: </a:t>
            </a:r>
            <a:r>
              <a:rPr lang="bg-BG" sz="4400" dirty="0"/>
              <a:t>конзолен интерфейс, менюта, демонстрация</a:t>
            </a:r>
            <a:endParaRPr lang="en-US" sz="4400" dirty="0"/>
          </a:p>
        </p:txBody>
      </p:sp>
      <p:sp>
        <p:nvSpPr>
          <p:cNvPr id="3" name="Freeform 3"/>
          <p:cNvSpPr/>
          <p:nvPr/>
        </p:nvSpPr>
        <p:spPr>
          <a:xfrm flipH="1">
            <a:off x="17509947" y="17972"/>
            <a:ext cx="1556106" cy="10623446"/>
          </a:xfrm>
          <a:custGeom>
            <a:avLst/>
            <a:gdLst/>
            <a:ahLst/>
            <a:cxnLst/>
            <a:rect l="l" t="t" r="r" b="b"/>
            <a:pathLst>
              <a:path w="1556106" h="10623446">
                <a:moveTo>
                  <a:pt x="1556106" y="0"/>
                </a:moveTo>
                <a:lnTo>
                  <a:pt x="0" y="0"/>
                </a:lnTo>
                <a:lnTo>
                  <a:pt x="0" y="10623446"/>
                </a:lnTo>
                <a:lnTo>
                  <a:pt x="1556106" y="10623446"/>
                </a:lnTo>
                <a:lnTo>
                  <a:pt x="1556106" y="0"/>
                </a:lnTo>
                <a:close/>
              </a:path>
            </a:pathLst>
          </a:custGeom>
          <a:blipFill>
            <a:blip r:embed="rId3"/>
            <a:stretch>
              <a:fillRect l="-172952" r="-72952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65351" y="678972"/>
            <a:ext cx="8267700" cy="2807762"/>
          </a:xfrm>
          <a:custGeom>
            <a:avLst/>
            <a:gdLst/>
            <a:ahLst/>
            <a:cxnLst/>
            <a:rect l="l" t="t" r="r" b="b"/>
            <a:pathLst>
              <a:path w="8413728" h="2503084">
                <a:moveTo>
                  <a:pt x="0" y="0"/>
                </a:moveTo>
                <a:lnTo>
                  <a:pt x="8413728" y="0"/>
                </a:lnTo>
                <a:lnTo>
                  <a:pt x="8413728" y="2503084"/>
                </a:lnTo>
                <a:lnTo>
                  <a:pt x="0" y="250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38200" y="647131"/>
            <a:ext cx="11582399" cy="3257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71"/>
              </a:lnSpc>
            </a:pPr>
            <a:r>
              <a:rPr lang="en-US" sz="6194" b="1" dirty="0" err="1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Трислойна</a:t>
            </a:r>
            <a:r>
              <a:rPr lang="en-US" sz="6194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endParaRPr lang="bg-BG" sz="6194" b="1" dirty="0" smtClean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  <a:p>
            <a:pPr algn="l">
              <a:lnSpc>
                <a:spcPts val="8671"/>
              </a:lnSpc>
            </a:pPr>
            <a:r>
              <a:rPr lang="en-US" sz="6194" b="1" dirty="0" err="1" smtClean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архитектура</a:t>
            </a:r>
            <a:endParaRPr lang="en-US" sz="6194" b="1" dirty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  <a:p>
            <a:pPr algn="l">
              <a:lnSpc>
                <a:spcPts val="8671"/>
              </a:lnSpc>
            </a:pPr>
            <a:endParaRPr lang="en-US" sz="6194" b="1" dirty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904882"/>
            <a:ext cx="15466550" cy="138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99"/>
              </a:lnSpc>
            </a:pPr>
            <a:endParaRPr lang="en-US" sz="4536" b="1" dirty="0">
              <a:solidFill>
                <a:srgbClr val="FF3131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algn="just">
              <a:lnSpc>
                <a:spcPts val="4830"/>
              </a:lnSpc>
            </a:pPr>
            <a:endParaRPr lang="en-US" sz="3776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  <p:sp>
        <p:nvSpPr>
          <p:cNvPr id="7" name="Звезда: 6 лъча 6">
            <a:extLst>
              <a:ext uri="{FF2B5EF4-FFF2-40B4-BE49-F238E27FC236}">
                <a16:creationId xmlns:a16="http://schemas.microsoft.com/office/drawing/2014/main" id="{8BC2FE39-E11D-C463-DF89-D79DFDF0C548}"/>
              </a:ext>
            </a:extLst>
          </p:cNvPr>
          <p:cNvSpPr/>
          <p:nvPr/>
        </p:nvSpPr>
        <p:spPr>
          <a:xfrm>
            <a:off x="13716000" y="1257300"/>
            <a:ext cx="2779250" cy="3037043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39379-6C71-AE22-F2D4-43644F14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9BB6F1-B02E-83AE-2BBB-2455D7A86835}"/>
              </a:ext>
            </a:extLst>
          </p:cNvPr>
          <p:cNvSpPr/>
          <p:nvPr/>
        </p:nvSpPr>
        <p:spPr>
          <a:xfrm>
            <a:off x="-274362" y="-266909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3587F50-78D3-C3B8-7E62-4C2A752614D5}"/>
              </a:ext>
            </a:extLst>
          </p:cNvPr>
          <p:cNvSpPr/>
          <p:nvPr/>
        </p:nvSpPr>
        <p:spPr>
          <a:xfrm flipH="1">
            <a:off x="0" y="-477785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5"/>
                </a:lnTo>
                <a:lnTo>
                  <a:pt x="2691323" y="10623445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A74FC09-964B-DDED-1765-677010469D21}"/>
              </a:ext>
            </a:extLst>
          </p:cNvPr>
          <p:cNvSpPr/>
          <p:nvPr/>
        </p:nvSpPr>
        <p:spPr>
          <a:xfrm>
            <a:off x="3124200" y="539564"/>
            <a:ext cx="8991600" cy="2897527"/>
          </a:xfrm>
          <a:custGeom>
            <a:avLst/>
            <a:gdLst/>
            <a:ahLst/>
            <a:cxnLst/>
            <a:rect l="l" t="t" r="r" b="b"/>
            <a:pathLst>
              <a:path w="8413728" h="2503084">
                <a:moveTo>
                  <a:pt x="0" y="0"/>
                </a:moveTo>
                <a:lnTo>
                  <a:pt x="8413728" y="0"/>
                </a:lnTo>
                <a:lnTo>
                  <a:pt x="8413728" y="2503085"/>
                </a:lnTo>
                <a:lnTo>
                  <a:pt x="0" y="25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lnSpc>
                <a:spcPts val="8671"/>
              </a:lnSpc>
            </a:pPr>
            <a:r>
              <a:rPr lang="en-US" sz="6100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Трислойна </a:t>
            </a:r>
            <a:r>
              <a:rPr lang="bg-BG" sz="6100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en-US" sz="6100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архитектура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FE45D0F-FC83-D5C3-C3D3-4EC2353843F5}"/>
              </a:ext>
            </a:extLst>
          </p:cNvPr>
          <p:cNvSpPr txBox="1"/>
          <p:nvPr/>
        </p:nvSpPr>
        <p:spPr>
          <a:xfrm>
            <a:off x="4182695" y="4076700"/>
            <a:ext cx="13141339" cy="4898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9498" lvl="1" indent="-489749" algn="just">
              <a:lnSpc>
                <a:spcPts val="6351"/>
              </a:lnSpc>
              <a:buFont typeface="Arial"/>
              <a:buChar char="•"/>
            </a:pPr>
            <a:r>
              <a:rPr lang="en-US" sz="4536" b="1" dirty="0">
                <a:solidFill>
                  <a:srgbClr val="FF3131"/>
                </a:solidFill>
                <a:latin typeface="Palatino Bold"/>
                <a:ea typeface="Palatino Bold"/>
                <a:cs typeface="Palatino Bold"/>
                <a:sym typeface="Palatino Bold"/>
              </a:rPr>
              <a:t>Слой за данни (Data Layer</a:t>
            </a:r>
            <a:r>
              <a:rPr lang="en-US" sz="4536" b="1" dirty="0" smtClean="0">
                <a:solidFill>
                  <a:srgbClr val="FF3131"/>
                </a:solidFill>
                <a:latin typeface="Palatino Bold"/>
                <a:ea typeface="Palatino Bold"/>
                <a:cs typeface="Palatino Bold"/>
                <a:sym typeface="Palatino Bold"/>
              </a:rPr>
              <a:t>):</a:t>
            </a:r>
            <a:endParaRPr lang="bg-BG" sz="3776" b="1" dirty="0" smtClean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15344" lvl="1" indent="-407672" algn="just">
              <a:lnSpc>
                <a:spcPts val="5287"/>
              </a:lnSpc>
              <a:buFont typeface="Arial"/>
              <a:buChar char="•"/>
            </a:pPr>
            <a:r>
              <a:rPr lang="en-US" sz="3776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Съхранява</a:t>
            </a:r>
            <a:r>
              <a:rPr lang="en-US" sz="377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377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 управлява информацията за филми (заглавие, жанр, година, рейтинг).</a:t>
            </a:r>
          </a:p>
          <a:p>
            <a:pPr marL="815344" lvl="1" indent="-407672" algn="just">
              <a:lnSpc>
                <a:spcPts val="5287"/>
              </a:lnSpc>
              <a:buFont typeface="Arial"/>
              <a:buChar char="•"/>
            </a:pPr>
            <a:r>
              <a:rPr lang="en-US" sz="377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Използва Entity Framework за всички операции </a:t>
            </a:r>
          </a:p>
          <a:p>
            <a:pPr algn="just">
              <a:lnSpc>
                <a:spcPts val="5287"/>
              </a:lnSpc>
            </a:pPr>
            <a:r>
              <a:rPr lang="bg-BG" sz="377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      </a:t>
            </a:r>
            <a:r>
              <a:rPr lang="en-US" sz="3776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с </a:t>
            </a:r>
            <a:r>
              <a:rPr lang="en-US" sz="377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базата данни.</a:t>
            </a:r>
          </a:p>
          <a:p>
            <a:pPr marL="815344" lvl="1" indent="-407672" algn="just">
              <a:lnSpc>
                <a:spcPts val="5287"/>
              </a:lnSpc>
              <a:buFont typeface="Arial"/>
              <a:buChar char="•"/>
            </a:pPr>
            <a:r>
              <a:rPr lang="en-US" sz="3776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Включва модели като Movie и User, DbContext и конфигурация на базата данни</a:t>
            </a:r>
            <a:endParaRPr lang="en-US" sz="4237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  <p:extLst>
      <p:ext uri="{BB962C8B-B14F-4D97-AF65-F5344CB8AC3E}">
        <p14:creationId xmlns:p14="http://schemas.microsoft.com/office/powerpoint/2010/main" val="414019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4362" y="-266909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-477785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5"/>
                </a:lnTo>
                <a:lnTo>
                  <a:pt x="2691323" y="10623445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10000" y="722996"/>
            <a:ext cx="11881976" cy="513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8686" lvl="1" indent="-529343" algn="just">
              <a:lnSpc>
                <a:spcPts val="6865"/>
              </a:lnSpc>
              <a:buFont typeface="Arial"/>
              <a:buChar char="•"/>
            </a:pPr>
            <a:r>
              <a:rPr lang="en-US" sz="4903" b="1" dirty="0">
                <a:solidFill>
                  <a:srgbClr val="FF3131"/>
                </a:solidFill>
                <a:latin typeface="Palatino Bold"/>
                <a:ea typeface="Palatino Bold"/>
                <a:cs typeface="Palatino Bold"/>
                <a:sym typeface="Palatino Bold"/>
              </a:rPr>
              <a:t>Слой за услуги (Service Layer):</a:t>
            </a:r>
          </a:p>
          <a:p>
            <a:pPr marL="849618" lvl="1" indent="-424809" algn="just">
              <a:lnSpc>
                <a:spcPts val="5509"/>
              </a:lnSpc>
              <a:buFont typeface="Arial"/>
              <a:buChar char="•"/>
            </a:pPr>
            <a:r>
              <a:rPr lang="en-US" sz="3935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Съдържа бизнес логиката – добавяне, търсене, филтриране и валидация на данните, извършва CRUD операции.</a:t>
            </a:r>
          </a:p>
          <a:p>
            <a:pPr marL="849618" lvl="1" indent="-424809" algn="just">
              <a:lnSpc>
                <a:spcPts val="5509"/>
              </a:lnSpc>
              <a:buFont typeface="Arial"/>
              <a:buChar char="•"/>
            </a:pPr>
            <a:r>
              <a:rPr lang="en-US" sz="3935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Предоставя функционалност на Presentation Layer.</a:t>
            </a:r>
          </a:p>
          <a:p>
            <a:pPr algn="just">
              <a:lnSpc>
                <a:spcPts val="5750"/>
              </a:lnSpc>
            </a:pPr>
            <a:endParaRPr lang="en-US" sz="3935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10000" y="6362700"/>
            <a:ext cx="12413098" cy="3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478" lvl="1" indent="-469739" algn="just">
              <a:lnSpc>
                <a:spcPts val="6092"/>
              </a:lnSpc>
              <a:buFont typeface="Arial"/>
              <a:buChar char="•"/>
            </a:pPr>
            <a:r>
              <a:rPr lang="en-US" sz="4351" b="1" dirty="0">
                <a:solidFill>
                  <a:srgbClr val="FF3131"/>
                </a:solidFill>
                <a:latin typeface="Palatino Bold"/>
                <a:ea typeface="Palatino Bold"/>
                <a:cs typeface="Palatino Bold"/>
                <a:sym typeface="Palatino Bold"/>
              </a:rPr>
              <a:t>Презентационен слой (Presentation Layer):</a:t>
            </a:r>
          </a:p>
          <a:p>
            <a:pPr marL="822046" lvl="1" indent="-411023" algn="just">
              <a:lnSpc>
                <a:spcPts val="5330"/>
              </a:lnSpc>
              <a:buFont typeface="Arial"/>
              <a:buChar char="•"/>
            </a:pPr>
            <a:r>
              <a:rPr lang="en-US" sz="3807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Интерфейс</a:t>
            </a:r>
            <a:r>
              <a:rPr lang="bg-BG" sz="380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</a:t>
            </a:r>
            <a:r>
              <a:rPr lang="bg-BG" sz="3807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3807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за</a:t>
            </a:r>
            <a:r>
              <a:rPr lang="en-US" sz="380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3807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потребителя – конзолен интерфейс и </a:t>
            </a:r>
            <a:r>
              <a:rPr lang="bg-BG" sz="3807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уебприложение</a:t>
            </a:r>
            <a:r>
              <a:rPr lang="bg-BG" sz="380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с </a:t>
            </a:r>
            <a:r>
              <a:rPr lang="en-US" sz="3807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навигация</a:t>
            </a:r>
            <a:r>
              <a:rPr lang="en-US" sz="3807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3807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в менюто</a:t>
            </a:r>
          </a:p>
          <a:p>
            <a:pPr algn="just">
              <a:lnSpc>
                <a:spcPts val="5330"/>
              </a:lnSpc>
            </a:pPr>
            <a:endParaRPr lang="en-US" sz="3807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4362" y="-266909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-477785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5"/>
                </a:lnTo>
                <a:lnTo>
                  <a:pt x="2691323" y="10623445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550397" y="1614312"/>
            <a:ext cx="8413728" cy="2503084"/>
          </a:xfrm>
          <a:custGeom>
            <a:avLst/>
            <a:gdLst/>
            <a:ahLst/>
            <a:cxnLst/>
            <a:rect l="l" t="t" r="r" b="b"/>
            <a:pathLst>
              <a:path w="8413728" h="2503084">
                <a:moveTo>
                  <a:pt x="0" y="0"/>
                </a:moveTo>
                <a:lnTo>
                  <a:pt x="8413728" y="0"/>
                </a:lnTo>
                <a:lnTo>
                  <a:pt x="8413728" y="2503085"/>
                </a:lnTo>
                <a:lnTo>
                  <a:pt x="0" y="25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619345" y="2069981"/>
            <a:ext cx="6626100" cy="10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1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Тестове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0450" y="4136373"/>
            <a:ext cx="11829992" cy="438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933" lvl="1" indent="-441467" algn="just">
              <a:lnSpc>
                <a:spcPts val="5725"/>
              </a:lnSpc>
              <a:buFont typeface="Arial"/>
              <a:buChar char="•"/>
            </a:pPr>
            <a:r>
              <a:rPr lang="en-US" sz="4089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Основните функционалности в слоя за услуги са тествани – добавяне, извличане, редактиране и изтриване на данни.</a:t>
            </a:r>
          </a:p>
          <a:p>
            <a:pPr marL="882933" lvl="1" indent="-441467" algn="just">
              <a:lnSpc>
                <a:spcPts val="5725"/>
              </a:lnSpc>
              <a:buFont typeface="Arial"/>
              <a:buChar char="•"/>
            </a:pPr>
            <a:r>
              <a:rPr lang="en-US" sz="4089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Постигнато е покритие </a:t>
            </a:r>
            <a:r>
              <a:rPr lang="en-US" sz="4089" b="1" dirty="0" err="1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от</a:t>
            </a:r>
            <a:r>
              <a:rPr lang="en-US" sz="4089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4089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&gt;7</a:t>
            </a:r>
            <a:r>
              <a:rPr lang="bg-BG" sz="4089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9</a:t>
            </a:r>
            <a:r>
              <a:rPr lang="en-US" sz="4089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% </a:t>
            </a:r>
            <a:r>
              <a:rPr lang="en-US" sz="4089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чрез компонентни тестове за нормални и гранични случаи.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1614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6124083" y="-168223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6"/>
                </a:lnTo>
                <a:lnTo>
                  <a:pt x="2691323" y="10623446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03439"/>
            <a:ext cx="10348147" cy="2711424"/>
          </a:xfrm>
          <a:custGeom>
            <a:avLst/>
            <a:gdLst/>
            <a:ahLst/>
            <a:cxnLst/>
            <a:rect l="l" t="t" r="r" b="b"/>
            <a:pathLst>
              <a:path w="10348147" h="2711424">
                <a:moveTo>
                  <a:pt x="0" y="0"/>
                </a:moveTo>
                <a:lnTo>
                  <a:pt x="10348147" y="0"/>
                </a:lnTo>
                <a:lnTo>
                  <a:pt x="10348147" y="2711423"/>
                </a:lnTo>
                <a:lnTo>
                  <a:pt x="0" y="2711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70" b="-6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23660" y="914400"/>
            <a:ext cx="7321224" cy="222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1"/>
              </a:lnSpc>
            </a:pPr>
            <a:r>
              <a:rPr lang="en-US" sz="6386" b="1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Използвани технологии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4152900"/>
            <a:ext cx="10449424" cy="53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C# и .NET – разработка на приложението</a:t>
            </a: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Entity Framework – работа с база данни</a:t>
            </a: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SQL база данни – съхранение </a:t>
            </a:r>
            <a:r>
              <a:rPr lang="en-US" sz="3712" b="1" dirty="0" err="1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на</a:t>
            </a: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bg-BG" sz="3712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данни</a:t>
            </a:r>
            <a:endParaRPr lang="en-US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Git – управление на версиите</a:t>
            </a: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 err="1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NUnit</a:t>
            </a:r>
            <a:r>
              <a:rPr lang="en-US" sz="3712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 </a:t>
            </a: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– автоматизирани тестове</a:t>
            </a: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en-US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Допълнителни библиотеки за улесняване на разработката</a:t>
            </a:r>
          </a:p>
          <a:p>
            <a:pPr algn="just">
              <a:lnSpc>
                <a:spcPts val="5057"/>
              </a:lnSpc>
            </a:pPr>
            <a:endParaRPr lang="en-US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E2148-771B-C26E-5538-58687533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C88FCC-7EF2-E095-A60B-807123C0320C}"/>
              </a:ext>
            </a:extLst>
          </p:cNvPr>
          <p:cNvSpPr/>
          <p:nvPr/>
        </p:nvSpPr>
        <p:spPr>
          <a:xfrm>
            <a:off x="0" y="-266909"/>
            <a:ext cx="18815406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pPr algn="ctr"/>
            <a:endParaRPr lang="ru-RU" sz="4000" dirty="0"/>
          </a:p>
          <a:p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C73B0E-827E-6E57-B00C-43730692B3AC}"/>
              </a:ext>
            </a:extLst>
          </p:cNvPr>
          <p:cNvSpPr/>
          <p:nvPr/>
        </p:nvSpPr>
        <p:spPr>
          <a:xfrm flipH="1">
            <a:off x="0" y="-477785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5"/>
                </a:lnTo>
                <a:lnTo>
                  <a:pt x="2691323" y="10623445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D553ED9-C1B3-5A00-1140-683CCB5AF2E1}"/>
              </a:ext>
            </a:extLst>
          </p:cNvPr>
          <p:cNvSpPr/>
          <p:nvPr/>
        </p:nvSpPr>
        <p:spPr>
          <a:xfrm>
            <a:off x="3352800" y="1331426"/>
            <a:ext cx="8413728" cy="2503084"/>
          </a:xfrm>
          <a:custGeom>
            <a:avLst/>
            <a:gdLst/>
            <a:ahLst/>
            <a:cxnLst/>
            <a:rect l="l" t="t" r="r" b="b"/>
            <a:pathLst>
              <a:path w="8413728" h="2503084">
                <a:moveTo>
                  <a:pt x="0" y="0"/>
                </a:moveTo>
                <a:lnTo>
                  <a:pt x="8413728" y="0"/>
                </a:lnTo>
                <a:lnTo>
                  <a:pt x="8413728" y="2503085"/>
                </a:lnTo>
                <a:lnTo>
                  <a:pt x="0" y="25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bg-BG" sz="6600" b="1"/>
              <a:t>Проблеми и решения</a:t>
            </a:r>
            <a:endParaRPr lang="en-US" sz="6600" b="1" dirty="0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3505200" y="4533900"/>
            <a:ext cx="149733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FF0000"/>
                </a:solidFill>
              </a:rPr>
              <a:t>Проблем:</a:t>
            </a:r>
            <a:r>
              <a:rPr lang="ru-RU" sz="4400" dirty="0"/>
              <a:t> Конфигурация на </a:t>
            </a:r>
            <a:r>
              <a:rPr lang="ru-RU" sz="4400" dirty="0" err="1"/>
              <a:t>Entity</a:t>
            </a:r>
            <a:r>
              <a:rPr lang="ru-RU" sz="4400" dirty="0"/>
              <a:t> </a:t>
            </a:r>
            <a:r>
              <a:rPr lang="ru-RU" sz="4400" dirty="0" err="1"/>
              <a:t>Framework</a:t>
            </a:r>
            <a:endParaRPr lang="ru-RU" sz="4400" dirty="0"/>
          </a:p>
          <a:p>
            <a:r>
              <a:rPr lang="ru-RU" sz="4400" dirty="0" smtClean="0">
                <a:solidFill>
                  <a:schemeClr val="accent3">
                    <a:lumMod val="75000"/>
                  </a:schemeClr>
                </a:solidFill>
              </a:rPr>
              <a:t>Решение</a:t>
            </a:r>
            <a:r>
              <a:rPr lang="ru-RU" sz="44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400" dirty="0"/>
              <a:t>Настройка на </a:t>
            </a:r>
            <a:r>
              <a:rPr lang="ru-RU" sz="4400" dirty="0" err="1"/>
              <a:t>DbContext</a:t>
            </a:r>
            <a:r>
              <a:rPr lang="ru-RU" sz="4400" dirty="0"/>
              <a:t> и проверка на </a:t>
            </a:r>
            <a:r>
              <a:rPr lang="ru-RU" sz="4400" dirty="0" err="1" smtClean="0"/>
              <a:t>връзката</a:t>
            </a:r>
            <a:endParaRPr lang="ru-RU" sz="4400" dirty="0" smtClean="0"/>
          </a:p>
          <a:p>
            <a:r>
              <a:rPr lang="ru-RU" sz="4400" dirty="0" smtClean="0">
                <a:solidFill>
                  <a:srgbClr val="FF0000"/>
                </a:solidFill>
              </a:rPr>
              <a:t>Проблем</a:t>
            </a:r>
            <a:r>
              <a:rPr lang="ru-RU" sz="4400" dirty="0">
                <a:solidFill>
                  <a:srgbClr val="FF0000"/>
                </a:solidFill>
              </a:rPr>
              <a:t>:</a:t>
            </a:r>
            <a:r>
              <a:rPr lang="ru-RU" sz="4400" dirty="0"/>
              <a:t> </a:t>
            </a:r>
            <a:r>
              <a:rPr lang="ru-RU" sz="4400" dirty="0" err="1"/>
              <a:t>Разделяне</a:t>
            </a:r>
            <a:r>
              <a:rPr lang="ru-RU" sz="4400" dirty="0"/>
              <a:t> на </a:t>
            </a:r>
            <a:r>
              <a:rPr lang="ru-RU" sz="4400" dirty="0" err="1"/>
              <a:t>логиката</a:t>
            </a:r>
            <a:r>
              <a:rPr lang="ru-RU" sz="4400" dirty="0"/>
              <a:t> между </a:t>
            </a:r>
            <a:r>
              <a:rPr lang="ru-RU" sz="4400" dirty="0" err="1"/>
              <a:t>слоевете</a:t>
            </a:r>
            <a:endParaRPr lang="ru-RU" sz="4400" dirty="0"/>
          </a:p>
          <a:p>
            <a:r>
              <a:rPr lang="ru-RU" sz="4400" dirty="0" smtClean="0">
                <a:solidFill>
                  <a:schemeClr val="accent3">
                    <a:lumMod val="75000"/>
                  </a:schemeClr>
                </a:solidFill>
              </a:rPr>
              <a:t>Решение</a:t>
            </a:r>
            <a:r>
              <a:rPr lang="ru-RU" sz="4400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r>
              <a:rPr lang="ru-RU" sz="4400" dirty="0"/>
              <a:t> </a:t>
            </a:r>
            <a:r>
              <a:rPr lang="ru-RU" sz="4400" dirty="0" err="1"/>
              <a:t>Ясни</a:t>
            </a:r>
            <a:r>
              <a:rPr lang="ru-RU" sz="4400" dirty="0"/>
              <a:t> </a:t>
            </a:r>
            <a:r>
              <a:rPr lang="ru-RU" sz="4400" dirty="0" err="1"/>
              <a:t>класове</a:t>
            </a:r>
            <a:r>
              <a:rPr lang="ru-RU" sz="4400" dirty="0"/>
              <a:t> и </a:t>
            </a:r>
            <a:r>
              <a:rPr lang="ru-RU" sz="4400" dirty="0" err="1"/>
              <a:t>методи</a:t>
            </a:r>
            <a:r>
              <a:rPr lang="ru-RU" sz="4400" dirty="0"/>
              <a:t> за всяка </a:t>
            </a:r>
            <a:r>
              <a:rPr lang="ru-RU" sz="4400" dirty="0" err="1"/>
              <a:t>функционалност</a:t>
            </a:r>
            <a:endParaRPr lang="ru-RU" sz="4400" dirty="0"/>
          </a:p>
          <a:p>
            <a:r>
              <a:rPr lang="ru-RU" sz="4400" dirty="0">
                <a:solidFill>
                  <a:srgbClr val="FF0000"/>
                </a:solidFill>
              </a:rPr>
              <a:t>Проблем:</a:t>
            </a:r>
            <a:r>
              <a:rPr lang="ru-RU" sz="4400" dirty="0"/>
              <a:t> </a:t>
            </a:r>
            <a:r>
              <a:rPr lang="ru-RU" sz="4400" dirty="0" err="1"/>
              <a:t>Покритие</a:t>
            </a:r>
            <a:r>
              <a:rPr lang="ru-RU" sz="4400" dirty="0"/>
              <a:t> на </a:t>
            </a:r>
            <a:r>
              <a:rPr lang="ru-RU" sz="4400" dirty="0" err="1"/>
              <a:t>тестовете</a:t>
            </a:r>
            <a:endParaRPr lang="ru-RU" sz="4400" dirty="0"/>
          </a:p>
          <a:p>
            <a:r>
              <a:rPr lang="ru-RU" sz="4400" dirty="0" smtClean="0">
                <a:solidFill>
                  <a:schemeClr val="accent3">
                    <a:lumMod val="75000"/>
                  </a:schemeClr>
                </a:solidFill>
              </a:rPr>
              <a:t>Решение</a:t>
            </a:r>
            <a:r>
              <a:rPr lang="ru-RU" sz="44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400" dirty="0" err="1"/>
              <a:t>Планиране</a:t>
            </a:r>
            <a:r>
              <a:rPr lang="ru-RU" sz="4400" dirty="0"/>
              <a:t> на </a:t>
            </a:r>
            <a:r>
              <a:rPr lang="ru-RU" sz="4400" dirty="0" err="1"/>
              <a:t>тестови</a:t>
            </a:r>
            <a:r>
              <a:rPr lang="ru-RU" sz="4400" dirty="0"/>
              <a:t> сценарии и автоматизация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5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77186" y="4456767"/>
            <a:ext cx="12762814" cy="4357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ru-RU" sz="3500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Проектът е реализиран в екип от трима: Аслъ, Денислав и Тодор. Всеки е допринесъл за проекта като всички са участвали в създаването на компонентни тестове и </a:t>
            </a:r>
            <a:r>
              <a:rPr lang="ru-RU" sz="3500" b="1" dirty="0" smtClean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документация. </a:t>
            </a:r>
            <a:r>
              <a:rPr lang="ru-RU" sz="3500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Разделянето на задачите е направено така, че всеки да покрие различна част от трислойната архитектура и да има реален принос към функционалността на приложението.</a:t>
            </a:r>
            <a:endParaRPr lang="en-US" sz="3500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77186" y="1257301"/>
            <a:ext cx="10629214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6000" b="1" dirty="0" err="1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Разпределение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на </a:t>
            </a:r>
            <a:r>
              <a:rPr lang="ru-RU" sz="6000" b="1" dirty="0" err="1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задачите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     и </a:t>
            </a:r>
            <a:r>
              <a:rPr lang="ru-RU" sz="6000" b="1" dirty="0" err="1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съизмеримо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участие</a:t>
            </a:r>
            <a:endParaRPr lang="en-US" sz="6000" b="1" dirty="0">
              <a:solidFill>
                <a:srgbClr val="178683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9E9AF-E179-624F-60E1-5E8C2D68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378C9D-EB24-FE2E-00CF-6A54AFB8EFCA}"/>
              </a:ext>
            </a:extLst>
          </p:cNvPr>
          <p:cNvSpPr/>
          <p:nvPr/>
        </p:nvSpPr>
        <p:spPr>
          <a:xfrm flipV="1">
            <a:off x="-801768" y="-11430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B14188B-96A9-D633-332E-CBC34D444DE8}"/>
              </a:ext>
            </a:extLst>
          </p:cNvPr>
          <p:cNvSpPr txBox="1"/>
          <p:nvPr/>
        </p:nvSpPr>
        <p:spPr>
          <a:xfrm>
            <a:off x="2286000" y="625784"/>
            <a:ext cx="10629214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6000" b="1" dirty="0" err="1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Разпределение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на задачите и съизмеримо участие</a:t>
            </a:r>
            <a:endParaRPr lang="en-US" sz="6000" b="1" dirty="0">
              <a:solidFill>
                <a:srgbClr val="178683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19F738-5771-190C-6F4F-9C5D40C293BF}"/>
              </a:ext>
            </a:extLst>
          </p:cNvPr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  <p:sp>
        <p:nvSpPr>
          <p:cNvPr id="10" name="Звезда: 5 лъча 9">
            <a:extLst>
              <a:ext uri="{FF2B5EF4-FFF2-40B4-BE49-F238E27FC236}">
                <a16:creationId xmlns:a16="http://schemas.microsoft.com/office/drawing/2014/main" id="{1FA5362D-5069-2617-8D15-AA18DC637529}"/>
              </a:ext>
            </a:extLst>
          </p:cNvPr>
          <p:cNvSpPr/>
          <p:nvPr/>
        </p:nvSpPr>
        <p:spPr>
          <a:xfrm>
            <a:off x="78775" y="3737649"/>
            <a:ext cx="4816067" cy="41148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400" dirty="0"/>
              <a:t>АСЛЪ</a:t>
            </a:r>
            <a:endParaRPr lang="en-US" sz="4400" dirty="0"/>
          </a:p>
        </p:txBody>
      </p:sp>
      <p:sp>
        <p:nvSpPr>
          <p:cNvPr id="11" name="Правоъгълник 10">
            <a:extLst>
              <a:ext uri="{FF2B5EF4-FFF2-40B4-BE49-F238E27FC236}">
                <a16:creationId xmlns:a16="http://schemas.microsoft.com/office/drawing/2014/main" id="{9F2E6724-C87C-14F1-9DE7-2D0E0DCE1A61}"/>
              </a:ext>
            </a:extLst>
          </p:cNvPr>
          <p:cNvSpPr/>
          <p:nvPr/>
        </p:nvSpPr>
        <p:spPr>
          <a:xfrm>
            <a:off x="5242245" y="3238500"/>
            <a:ext cx="9127874" cy="6647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Проектиране на базата данни за филми и потребители</a:t>
            </a:r>
          </a:p>
          <a:p>
            <a:pPr algn="ctr"/>
            <a:r>
              <a:rPr lang="ru-RU" sz="3200" dirty="0"/>
              <a:t>Създаване на модели (Movie, User и др.) и конфигурация на DbContext</a:t>
            </a:r>
          </a:p>
          <a:p>
            <a:pPr algn="ctr"/>
            <a:r>
              <a:rPr lang="ru-RU" sz="3200" dirty="0"/>
              <a:t>Настройка на Entity Framework и осигуряване на правилна връзка с базата</a:t>
            </a:r>
          </a:p>
          <a:p>
            <a:pPr algn="ctr"/>
            <a:r>
              <a:rPr lang="ru-RU" sz="3200" dirty="0"/>
              <a:t>Подготовка на миграции и проверка на схемата на базата</a:t>
            </a:r>
          </a:p>
          <a:p>
            <a:pPr algn="ctr"/>
            <a:r>
              <a:rPr lang="ru-RU" sz="3200" dirty="0"/>
              <a:t>Участие в създаването на компонентни тестове, които проверяват правилното извличане и съхранение на данни</a:t>
            </a:r>
          </a:p>
          <a:p>
            <a:pPr algn="ctr"/>
            <a:r>
              <a:rPr lang="ru-RU" sz="3200" dirty="0"/>
              <a:t>Съдействие при документацията на Data Layer</a:t>
            </a:r>
            <a:endParaRPr lang="en-US" sz="3200" dirty="0"/>
          </a:p>
        </p:txBody>
      </p:sp>
      <p:sp>
        <p:nvSpPr>
          <p:cNvPr id="12" name="Блоксхема: решение 11">
            <a:extLst>
              <a:ext uri="{FF2B5EF4-FFF2-40B4-BE49-F238E27FC236}">
                <a16:creationId xmlns:a16="http://schemas.microsoft.com/office/drawing/2014/main" id="{BD87FDF7-F717-702A-6BFA-E744C17166B4}"/>
              </a:ext>
            </a:extLst>
          </p:cNvPr>
          <p:cNvSpPr/>
          <p:nvPr/>
        </p:nvSpPr>
        <p:spPr>
          <a:xfrm>
            <a:off x="14935200" y="4838700"/>
            <a:ext cx="3126116" cy="31623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DATA LAYER</a:t>
            </a:r>
          </a:p>
        </p:txBody>
      </p:sp>
    </p:spTree>
    <p:extLst>
      <p:ext uri="{BB962C8B-B14F-4D97-AF65-F5344CB8AC3E}">
        <p14:creationId xmlns:p14="http://schemas.microsoft.com/office/powerpoint/2010/main" val="412700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C8467-AD1D-F928-381D-D03D0786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06576A-65A9-8C08-C877-26479C3C4E59}"/>
              </a:ext>
            </a:extLst>
          </p:cNvPr>
          <p:cNvSpPr/>
          <p:nvPr/>
        </p:nvSpPr>
        <p:spPr>
          <a:xfrm flipV="1">
            <a:off x="0" y="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3B92EC-6CB9-22CA-E988-904900A39D7F}"/>
              </a:ext>
            </a:extLst>
          </p:cNvPr>
          <p:cNvSpPr txBox="1"/>
          <p:nvPr/>
        </p:nvSpPr>
        <p:spPr>
          <a:xfrm>
            <a:off x="2286000" y="952500"/>
            <a:ext cx="10629214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6000" b="1" dirty="0" err="1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Разпределение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на задачите и съизмеримо участие</a:t>
            </a:r>
            <a:endParaRPr lang="en-US" sz="6000" b="1" dirty="0">
              <a:solidFill>
                <a:srgbClr val="178683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637FE4-6BAB-6FA3-17A1-060A7E5961CA}"/>
              </a:ext>
            </a:extLst>
          </p:cNvPr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  <p:sp>
        <p:nvSpPr>
          <p:cNvPr id="10" name="Звезда: 5 лъча 9">
            <a:extLst>
              <a:ext uri="{FF2B5EF4-FFF2-40B4-BE49-F238E27FC236}">
                <a16:creationId xmlns:a16="http://schemas.microsoft.com/office/drawing/2014/main" id="{125BAB02-C91D-7A9F-8BA2-C02DF9BAB872}"/>
              </a:ext>
            </a:extLst>
          </p:cNvPr>
          <p:cNvSpPr/>
          <p:nvPr/>
        </p:nvSpPr>
        <p:spPr>
          <a:xfrm>
            <a:off x="409300" y="4453501"/>
            <a:ext cx="4745426" cy="39199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400" dirty="0"/>
              <a:t>ТОДОР</a:t>
            </a:r>
            <a:endParaRPr lang="en-US" sz="4400" dirty="0"/>
          </a:p>
        </p:txBody>
      </p:sp>
      <p:sp>
        <p:nvSpPr>
          <p:cNvPr id="11" name="Правоъгълник 10">
            <a:extLst>
              <a:ext uri="{FF2B5EF4-FFF2-40B4-BE49-F238E27FC236}">
                <a16:creationId xmlns:a16="http://schemas.microsoft.com/office/drawing/2014/main" id="{0BFA8EE7-9DF1-76E1-137D-CBEE49E66DC4}"/>
              </a:ext>
            </a:extLst>
          </p:cNvPr>
          <p:cNvSpPr/>
          <p:nvPr/>
        </p:nvSpPr>
        <p:spPr>
          <a:xfrm>
            <a:off x="6172200" y="3332092"/>
            <a:ext cx="9691037" cy="6968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PRESENTATION LAYER</a:t>
            </a:r>
          </a:p>
          <a:p>
            <a:pPr algn="ctr"/>
            <a:endParaRPr lang="en-US" sz="3200" dirty="0"/>
          </a:p>
          <a:p>
            <a:pPr algn="ctr"/>
            <a:r>
              <a:rPr lang="ru-RU" sz="2800" dirty="0"/>
              <a:t>Проектиране и имплементация на </a:t>
            </a:r>
            <a:r>
              <a:rPr lang="ru-RU" sz="2800" dirty="0" err="1"/>
              <a:t>конзолен</a:t>
            </a:r>
            <a:r>
              <a:rPr lang="ru-RU" sz="2800" dirty="0"/>
              <a:t> </a:t>
            </a:r>
            <a:r>
              <a:rPr lang="ru-RU" sz="2800" dirty="0" smtClean="0"/>
              <a:t>интерфейс и </a:t>
            </a:r>
            <a:r>
              <a:rPr lang="ru-RU" sz="2800" dirty="0" err="1" smtClean="0"/>
              <a:t>уебприложение</a:t>
            </a:r>
            <a:r>
              <a:rPr lang="ru-RU" sz="2800" dirty="0" smtClean="0"/>
              <a:t> </a:t>
            </a:r>
            <a:r>
              <a:rPr lang="ru-RU" sz="2800" dirty="0"/>
              <a:t>за взаимодействие с потребителя</a:t>
            </a:r>
          </a:p>
          <a:p>
            <a:pPr algn="ctr"/>
            <a:r>
              <a:rPr lang="ru-RU" sz="2800" dirty="0"/>
              <a:t>Създаване на менюта за навигация между добавяне, търсене, редакция и изтриване на филми</a:t>
            </a:r>
          </a:p>
          <a:p>
            <a:pPr algn="ctr"/>
            <a:r>
              <a:rPr lang="ru-RU" sz="2800" dirty="0"/>
              <a:t>Визуализация на данните за потребителя и обратна връзка при грешки</a:t>
            </a:r>
          </a:p>
          <a:p>
            <a:pPr algn="ctr"/>
            <a:r>
              <a:rPr lang="ru-RU" sz="2800" dirty="0"/>
              <a:t>Подготовка на демонстрацията за представяне пред </a:t>
            </a:r>
            <a:r>
              <a:rPr lang="ru-RU" sz="2800" dirty="0" err="1" smtClean="0"/>
              <a:t>комисията</a:t>
            </a:r>
            <a:endParaRPr lang="ru-RU" sz="2800" dirty="0" smtClean="0"/>
          </a:p>
          <a:p>
            <a:pPr algn="ctr"/>
            <a:r>
              <a:rPr lang="ru-RU" sz="2800" dirty="0" smtClean="0"/>
              <a:t>Документация </a:t>
            </a:r>
            <a:r>
              <a:rPr lang="ru-RU" sz="2800" dirty="0"/>
              <a:t>на Presentation Layer и инструкции за използване на приложението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34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8467-AD1D-F928-381D-D03D0786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06576A-65A9-8C08-C877-26479C3C4E59}"/>
              </a:ext>
            </a:extLst>
          </p:cNvPr>
          <p:cNvSpPr/>
          <p:nvPr/>
        </p:nvSpPr>
        <p:spPr>
          <a:xfrm flipV="1">
            <a:off x="0" y="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637FE4-6BAB-6FA3-17A1-060A7E5961CA}"/>
              </a:ext>
            </a:extLst>
          </p:cNvPr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  <p:pic>
        <p:nvPicPr>
          <p:cNvPr id="9" name="Картина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408611"/>
            <a:ext cx="14020800" cy="8877300"/>
          </a:xfrm>
          <a:prstGeom prst="rect">
            <a:avLst/>
          </a:prstGeom>
        </p:spPr>
      </p:pic>
      <p:sp>
        <p:nvSpPr>
          <p:cNvPr id="3" name="Текстово поле 2"/>
          <p:cNvSpPr txBox="1"/>
          <p:nvPr/>
        </p:nvSpPr>
        <p:spPr>
          <a:xfrm>
            <a:off x="6705600" y="85172"/>
            <a:ext cx="46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Console UI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50411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8467-AD1D-F928-381D-D03D0786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06576A-65A9-8C08-C877-26479C3C4E59}"/>
              </a:ext>
            </a:extLst>
          </p:cNvPr>
          <p:cNvSpPr/>
          <p:nvPr/>
        </p:nvSpPr>
        <p:spPr>
          <a:xfrm flipV="1">
            <a:off x="0" y="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637FE4-6BAB-6FA3-17A1-060A7E5961CA}"/>
              </a:ext>
            </a:extLst>
          </p:cNvPr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64" y="1185774"/>
            <a:ext cx="18033342" cy="8707065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7924800" y="11974"/>
            <a:ext cx="678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Web UI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01777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C4983-BC6D-611B-73FB-B83879BA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14C612-CBB2-E34C-61E0-239DEEE5192A}"/>
              </a:ext>
            </a:extLst>
          </p:cNvPr>
          <p:cNvSpPr/>
          <p:nvPr/>
        </p:nvSpPr>
        <p:spPr>
          <a:xfrm flipV="1">
            <a:off x="10886" y="-190500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11078614"/>
                </a:moveTo>
                <a:lnTo>
                  <a:pt x="19089768" y="11078614"/>
                </a:lnTo>
                <a:lnTo>
                  <a:pt x="19089768" y="0"/>
                </a:lnTo>
                <a:lnTo>
                  <a:pt x="0" y="0"/>
                </a:lnTo>
                <a:lnTo>
                  <a:pt x="0" y="11078614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538B2AA-A97E-9080-2F1E-A07F488A1C05}"/>
              </a:ext>
            </a:extLst>
          </p:cNvPr>
          <p:cNvSpPr txBox="1"/>
          <p:nvPr/>
        </p:nvSpPr>
        <p:spPr>
          <a:xfrm>
            <a:off x="2362200" y="935787"/>
            <a:ext cx="10629214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6000" b="1" dirty="0" err="1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Разпределение</a:t>
            </a:r>
            <a:r>
              <a:rPr lang="ru-RU" sz="6000" b="1" dirty="0" smtClean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ru-RU" sz="6000" b="1" dirty="0">
                <a:solidFill>
                  <a:srgbClr val="178683"/>
                </a:solidFill>
                <a:latin typeface="Murecho Bold"/>
                <a:ea typeface="Murecho Bold"/>
                <a:cs typeface="Murecho Bold"/>
                <a:sym typeface="Murecho Bold"/>
              </a:rPr>
              <a:t>на задачите и съизмеримо участие</a:t>
            </a:r>
            <a:endParaRPr lang="en-US" sz="6000" b="1" dirty="0">
              <a:solidFill>
                <a:srgbClr val="178683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40AFDF-C5A5-D4A1-CB05-6522A6889F4F}"/>
              </a:ext>
            </a:extLst>
          </p:cNvPr>
          <p:cNvSpPr txBox="1"/>
          <p:nvPr/>
        </p:nvSpPr>
        <p:spPr>
          <a:xfrm>
            <a:off x="6365751" y="4456767"/>
            <a:ext cx="9525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/>
          </a:p>
        </p:txBody>
      </p:sp>
      <p:sp>
        <p:nvSpPr>
          <p:cNvPr id="10" name="Звезда: 5 лъча 9">
            <a:extLst>
              <a:ext uri="{FF2B5EF4-FFF2-40B4-BE49-F238E27FC236}">
                <a16:creationId xmlns:a16="http://schemas.microsoft.com/office/drawing/2014/main" id="{8735B791-0372-6223-7E8B-30680F3AA14E}"/>
              </a:ext>
            </a:extLst>
          </p:cNvPr>
          <p:cNvSpPr/>
          <p:nvPr/>
        </p:nvSpPr>
        <p:spPr>
          <a:xfrm>
            <a:off x="332244" y="4305300"/>
            <a:ext cx="5486400" cy="47060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dirty="0"/>
              <a:t>ДЕНИСЛАВ</a:t>
            </a:r>
            <a:endParaRPr lang="en-US" sz="3200" dirty="0"/>
          </a:p>
        </p:txBody>
      </p:sp>
      <p:sp>
        <p:nvSpPr>
          <p:cNvPr id="11" name="Правоъгълник 10">
            <a:extLst>
              <a:ext uri="{FF2B5EF4-FFF2-40B4-BE49-F238E27FC236}">
                <a16:creationId xmlns:a16="http://schemas.microsoft.com/office/drawing/2014/main" id="{68AE957F-307C-563A-0D7D-C2100178F003}"/>
              </a:ext>
            </a:extLst>
          </p:cNvPr>
          <p:cNvSpPr/>
          <p:nvPr/>
        </p:nvSpPr>
        <p:spPr>
          <a:xfrm>
            <a:off x="6365751" y="3230120"/>
            <a:ext cx="10629214" cy="6856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SERVICE LAYER</a:t>
            </a:r>
          </a:p>
          <a:p>
            <a:pPr algn="ctr"/>
            <a:endParaRPr lang="en-US" sz="4000" dirty="0"/>
          </a:p>
          <a:p>
            <a:pPr algn="ctr"/>
            <a:r>
              <a:rPr lang="ru-RU" sz="3200" dirty="0"/>
              <a:t>Реализация на бизнес логиката на приложението</a:t>
            </a:r>
          </a:p>
          <a:p>
            <a:pPr algn="ctr"/>
            <a:r>
              <a:rPr lang="ru-RU" sz="3200" dirty="0"/>
              <a:t>Имплементация на CRUD операции за филми и потребители (Create, Read, Update, Delete)</a:t>
            </a:r>
          </a:p>
          <a:p>
            <a:pPr algn="ctr"/>
            <a:r>
              <a:rPr lang="ru-RU" sz="3200" dirty="0"/>
              <a:t>Валидиране на данните и прилагане на правила за съхранение и модификация</a:t>
            </a:r>
          </a:p>
          <a:p>
            <a:pPr algn="ctr"/>
            <a:r>
              <a:rPr lang="ru-RU" sz="3200" dirty="0"/>
              <a:t>Филтриране и сортиране на филмите по </a:t>
            </a:r>
            <a:r>
              <a:rPr lang="ru-RU" sz="3200" dirty="0" err="1" smtClean="0"/>
              <a:t>времетраене</a:t>
            </a:r>
            <a:endParaRPr lang="ru-RU" sz="3200" dirty="0"/>
          </a:p>
          <a:p>
            <a:pPr algn="ctr"/>
            <a:r>
              <a:rPr lang="ru-RU" sz="3200" dirty="0"/>
              <a:t>Създаване на компонентни тестове за всички методи в Service Layer, включително нормални и гранични случаи</a:t>
            </a:r>
          </a:p>
          <a:p>
            <a:pPr algn="ctr"/>
            <a:r>
              <a:rPr lang="ru-RU" sz="3200" dirty="0"/>
              <a:t>Документация на бизнес логиката и структурата на Service Layer</a:t>
            </a:r>
          </a:p>
        </p:txBody>
      </p:sp>
    </p:spTree>
    <p:extLst>
      <p:ext uri="{BB962C8B-B14F-4D97-AF65-F5344CB8AC3E}">
        <p14:creationId xmlns:p14="http://schemas.microsoft.com/office/powerpoint/2010/main" val="11835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00396-F3D1-3E40-E92E-1559BC42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5D7843-C9B4-5D50-5FE1-DAFD495E1A47}"/>
              </a:ext>
            </a:extLst>
          </p:cNvPr>
          <p:cNvSpPr/>
          <p:nvPr/>
        </p:nvSpPr>
        <p:spPr>
          <a:xfrm>
            <a:off x="0" y="-623391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4B41B3-2742-1D6D-FC8E-38F4E2D1836C}"/>
              </a:ext>
            </a:extLst>
          </p:cNvPr>
          <p:cNvSpPr/>
          <p:nvPr/>
        </p:nvSpPr>
        <p:spPr>
          <a:xfrm flipH="1">
            <a:off x="16124083" y="-168223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6"/>
                </a:lnTo>
                <a:lnTo>
                  <a:pt x="2691323" y="10623446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730FBC1-B7AC-FBDB-08B5-296126D3036A}"/>
              </a:ext>
            </a:extLst>
          </p:cNvPr>
          <p:cNvSpPr/>
          <p:nvPr/>
        </p:nvSpPr>
        <p:spPr>
          <a:xfrm>
            <a:off x="710198" y="804300"/>
            <a:ext cx="10348147" cy="2711424"/>
          </a:xfrm>
          <a:custGeom>
            <a:avLst/>
            <a:gdLst/>
            <a:ahLst/>
            <a:cxnLst/>
            <a:rect l="l" t="t" r="r" b="b"/>
            <a:pathLst>
              <a:path w="10348147" h="2711424">
                <a:moveTo>
                  <a:pt x="0" y="0"/>
                </a:moveTo>
                <a:lnTo>
                  <a:pt x="10348147" y="0"/>
                </a:lnTo>
                <a:lnTo>
                  <a:pt x="10348147" y="2711423"/>
                </a:lnTo>
                <a:lnTo>
                  <a:pt x="0" y="2711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70" b="-6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0D9EA0-0B5E-B58C-3278-F74E0466F6D8}"/>
              </a:ext>
            </a:extLst>
          </p:cNvPr>
          <p:cNvSpPr txBox="1"/>
          <p:nvPr/>
        </p:nvSpPr>
        <p:spPr>
          <a:xfrm>
            <a:off x="1822776" y="1409700"/>
            <a:ext cx="7321224" cy="105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1"/>
              </a:lnSpc>
            </a:pPr>
            <a:r>
              <a:rPr lang="en-US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bg-BG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Заключение</a:t>
            </a:r>
            <a:endParaRPr lang="en-US" sz="6386" b="1" dirty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B6F2B3-9FD4-4587-D10F-2630CE9C6DF5}"/>
              </a:ext>
            </a:extLst>
          </p:cNvPr>
          <p:cNvSpPr txBox="1"/>
          <p:nvPr/>
        </p:nvSpPr>
        <p:spPr>
          <a:xfrm>
            <a:off x="2183756" y="4121124"/>
            <a:ext cx="11734800" cy="3962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ru-RU" sz="4000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Проектът ни позволи да приложим на практика принципите на трислойната архитектура и да разберем как слоевете Data, Service и Presentation работят заедно.</a:t>
            </a:r>
          </a:p>
          <a:p>
            <a:pPr marL="400742" lvl="1" algn="just">
              <a:lnSpc>
                <a:spcPts val="5197"/>
              </a:lnSpc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  <p:extLst>
      <p:ext uri="{BB962C8B-B14F-4D97-AF65-F5344CB8AC3E}">
        <p14:creationId xmlns:p14="http://schemas.microsoft.com/office/powerpoint/2010/main" val="301000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51ED5-9F1D-9E20-4FD9-A01DA422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CBE3C5-0608-DF8D-1CA1-7DE48309413B}"/>
              </a:ext>
            </a:extLst>
          </p:cNvPr>
          <p:cNvSpPr/>
          <p:nvPr/>
        </p:nvSpPr>
        <p:spPr>
          <a:xfrm>
            <a:off x="-30192" y="-623391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75CEB1F-D513-6E86-CDD7-C729DAA42728}"/>
              </a:ext>
            </a:extLst>
          </p:cNvPr>
          <p:cNvSpPr/>
          <p:nvPr/>
        </p:nvSpPr>
        <p:spPr>
          <a:xfrm flipH="1">
            <a:off x="16124083" y="-168223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6"/>
                </a:lnTo>
                <a:lnTo>
                  <a:pt x="2691323" y="10623446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7190CB6-3405-1593-7AD4-F677775F45F3}"/>
              </a:ext>
            </a:extLst>
          </p:cNvPr>
          <p:cNvSpPr/>
          <p:nvPr/>
        </p:nvSpPr>
        <p:spPr>
          <a:xfrm>
            <a:off x="710198" y="804300"/>
            <a:ext cx="10348147" cy="2711424"/>
          </a:xfrm>
          <a:custGeom>
            <a:avLst/>
            <a:gdLst/>
            <a:ahLst/>
            <a:cxnLst/>
            <a:rect l="l" t="t" r="r" b="b"/>
            <a:pathLst>
              <a:path w="10348147" h="2711424">
                <a:moveTo>
                  <a:pt x="0" y="0"/>
                </a:moveTo>
                <a:lnTo>
                  <a:pt x="10348147" y="0"/>
                </a:lnTo>
                <a:lnTo>
                  <a:pt x="10348147" y="2711423"/>
                </a:lnTo>
                <a:lnTo>
                  <a:pt x="0" y="2711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70" b="-6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EFCBF27-9EA1-8219-B8A6-F71BDE5DC014}"/>
              </a:ext>
            </a:extLst>
          </p:cNvPr>
          <p:cNvSpPr txBox="1"/>
          <p:nvPr/>
        </p:nvSpPr>
        <p:spPr>
          <a:xfrm>
            <a:off x="1822776" y="1409700"/>
            <a:ext cx="7321224" cy="105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1"/>
              </a:lnSpc>
            </a:pPr>
            <a:r>
              <a:rPr lang="en-US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bg-BG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Заключение</a:t>
            </a:r>
            <a:endParaRPr lang="en-US" sz="6386" b="1" dirty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F63139-E2C8-F63E-1C8F-341311792067}"/>
              </a:ext>
            </a:extLst>
          </p:cNvPr>
          <p:cNvSpPr txBox="1"/>
          <p:nvPr/>
        </p:nvSpPr>
        <p:spPr>
          <a:xfrm>
            <a:off x="457200" y="3515724"/>
            <a:ext cx="14325600" cy="662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r>
              <a:rPr lang="ru-RU" sz="3712" b="1" dirty="0">
                <a:solidFill>
                  <a:srgbClr val="00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Приложението може да бъде надградено, като се добави графичен интерфейс, интеграция с външни филмови бази данни, повече филтри и статистики за потребителите. Този проект ни даде не само технически умения, но и подготовка за работа по реални софтуерни проекти.</a:t>
            </a: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endParaRPr lang="en-US" sz="3712" b="1" dirty="0">
              <a:solidFill>
                <a:srgbClr val="FF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  <p:extLst>
      <p:ext uri="{BB962C8B-B14F-4D97-AF65-F5344CB8AC3E}">
        <p14:creationId xmlns:p14="http://schemas.microsoft.com/office/powerpoint/2010/main" val="269486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3FC1D-D285-FBFC-A581-57591560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E94C10-6487-DA87-30C7-B846984B166D}"/>
              </a:ext>
            </a:extLst>
          </p:cNvPr>
          <p:cNvSpPr/>
          <p:nvPr/>
        </p:nvSpPr>
        <p:spPr>
          <a:xfrm>
            <a:off x="-30192" y="-623391"/>
            <a:ext cx="19089768" cy="11078614"/>
          </a:xfrm>
          <a:custGeom>
            <a:avLst/>
            <a:gdLst/>
            <a:ahLst/>
            <a:cxnLst/>
            <a:rect l="l" t="t" r="r" b="b"/>
            <a:pathLst>
              <a:path w="19089768" h="11078614">
                <a:moveTo>
                  <a:pt x="0" y="0"/>
                </a:moveTo>
                <a:lnTo>
                  <a:pt x="19089768" y="0"/>
                </a:lnTo>
                <a:lnTo>
                  <a:pt x="19089768" y="11078614"/>
                </a:lnTo>
                <a:lnTo>
                  <a:pt x="0" y="1107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7" b="-74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0A1FEE-F047-3E1E-AC68-341E794FB722}"/>
              </a:ext>
            </a:extLst>
          </p:cNvPr>
          <p:cNvSpPr/>
          <p:nvPr/>
        </p:nvSpPr>
        <p:spPr>
          <a:xfrm flipH="1">
            <a:off x="16124083" y="-168223"/>
            <a:ext cx="2691323" cy="10623446"/>
          </a:xfrm>
          <a:custGeom>
            <a:avLst/>
            <a:gdLst/>
            <a:ahLst/>
            <a:cxnLst/>
            <a:rect l="l" t="t" r="r" b="b"/>
            <a:pathLst>
              <a:path w="2691323" h="10623446">
                <a:moveTo>
                  <a:pt x="2691323" y="0"/>
                </a:moveTo>
                <a:lnTo>
                  <a:pt x="0" y="0"/>
                </a:lnTo>
                <a:lnTo>
                  <a:pt x="0" y="10623446"/>
                </a:lnTo>
                <a:lnTo>
                  <a:pt x="2691323" y="10623446"/>
                </a:lnTo>
                <a:lnTo>
                  <a:pt x="2691323" y="0"/>
                </a:lnTo>
                <a:close/>
              </a:path>
            </a:pathLst>
          </a:custGeom>
          <a:blipFill>
            <a:blip r:embed="rId3"/>
            <a:stretch>
              <a:fillRect l="-100000" b="-2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FAA85BF-3290-2D5A-7695-840F930C4426}"/>
              </a:ext>
            </a:extLst>
          </p:cNvPr>
          <p:cNvSpPr/>
          <p:nvPr/>
        </p:nvSpPr>
        <p:spPr>
          <a:xfrm>
            <a:off x="710198" y="804300"/>
            <a:ext cx="10348147" cy="2711424"/>
          </a:xfrm>
          <a:custGeom>
            <a:avLst/>
            <a:gdLst/>
            <a:ahLst/>
            <a:cxnLst/>
            <a:rect l="l" t="t" r="r" b="b"/>
            <a:pathLst>
              <a:path w="10348147" h="2711424">
                <a:moveTo>
                  <a:pt x="0" y="0"/>
                </a:moveTo>
                <a:lnTo>
                  <a:pt x="10348147" y="0"/>
                </a:lnTo>
                <a:lnTo>
                  <a:pt x="10348147" y="2711423"/>
                </a:lnTo>
                <a:lnTo>
                  <a:pt x="0" y="2711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70" b="-6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A3C4040-453E-6D06-C373-B479832A0911}"/>
              </a:ext>
            </a:extLst>
          </p:cNvPr>
          <p:cNvSpPr txBox="1"/>
          <p:nvPr/>
        </p:nvSpPr>
        <p:spPr>
          <a:xfrm>
            <a:off x="1822776" y="1409700"/>
            <a:ext cx="7321224" cy="105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1"/>
              </a:lnSpc>
            </a:pPr>
            <a:r>
              <a:rPr lang="en-US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 </a:t>
            </a:r>
            <a:r>
              <a:rPr lang="bg-BG" sz="6386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Заключение</a:t>
            </a:r>
            <a:endParaRPr lang="en-US" sz="6386" b="1" dirty="0">
              <a:solidFill>
                <a:srgbClr val="000000"/>
              </a:solidFill>
              <a:latin typeface="Murecho Bold"/>
              <a:ea typeface="Murecho Bold"/>
              <a:cs typeface="Murecho Bold"/>
              <a:sym typeface="Murech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5982E8-6274-5C5F-3E24-C94AD4656923}"/>
              </a:ext>
            </a:extLst>
          </p:cNvPr>
          <p:cNvSpPr txBox="1"/>
          <p:nvPr/>
        </p:nvSpPr>
        <p:spPr>
          <a:xfrm>
            <a:off x="710198" y="3066542"/>
            <a:ext cx="14758402" cy="662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r>
              <a:rPr lang="ru-RU" sz="4800" b="1" dirty="0">
                <a:solidFill>
                  <a:srgbClr val="FF0000"/>
                </a:solidFill>
                <a:latin typeface="Palatino Bold"/>
                <a:ea typeface="Palatino Bold"/>
                <a:cs typeface="Palatino Bold"/>
                <a:sym typeface="Palatino Bold"/>
              </a:rPr>
              <a:t>ИЗВОДИ: </a:t>
            </a:r>
          </a:p>
          <a:p>
            <a:pPr marL="400742" lvl="1" algn="just">
              <a:lnSpc>
                <a:spcPts val="5197"/>
              </a:lnSpc>
            </a:pPr>
            <a:endParaRPr lang="ru-RU" sz="4800" b="1" dirty="0">
              <a:solidFill>
                <a:srgbClr val="FF0000"/>
              </a:solidFill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r>
              <a:rPr lang="ru-RU" sz="4400" dirty="0"/>
              <a:t>Д</a:t>
            </a:r>
            <a:r>
              <a:rPr lang="ru-RU" sz="4400" dirty="0" smtClean="0"/>
              <a:t>обре </a:t>
            </a:r>
            <a:r>
              <a:rPr lang="ru-RU" sz="4400" dirty="0"/>
              <a:t>организираната архитектура,  разделението на слоевете и покритието с тестове гарантират, че приложението е стабилно, разширяемо и лесно за поддръжка.</a:t>
            </a:r>
            <a:endParaRPr lang="ru-RU" sz="4400" b="1" dirty="0">
              <a:solidFill>
                <a:srgbClr val="FF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801485" lvl="1" indent="-400743" algn="just">
              <a:lnSpc>
                <a:spcPts val="5197"/>
              </a:lnSpc>
              <a:buFont typeface="Arial"/>
              <a:buChar char="•"/>
            </a:pPr>
            <a:endParaRPr lang="ru-RU" sz="3712" b="1" dirty="0">
              <a:solidFill>
                <a:srgbClr val="00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  <a:p>
            <a:pPr marL="400742" lvl="1" algn="just">
              <a:lnSpc>
                <a:spcPts val="5197"/>
              </a:lnSpc>
            </a:pPr>
            <a:endParaRPr lang="en-US" sz="3712" b="1" dirty="0">
              <a:solidFill>
                <a:srgbClr val="FF0000"/>
              </a:solidFill>
              <a:latin typeface="Palatino Bold"/>
              <a:ea typeface="Palatino Bold"/>
              <a:cs typeface="Palatino Bold"/>
              <a:sym typeface="Palatino Bold"/>
            </a:endParaRPr>
          </a:p>
        </p:txBody>
      </p:sp>
    </p:spTree>
    <p:extLst>
      <p:ext uri="{BB962C8B-B14F-4D97-AF65-F5344CB8AC3E}">
        <p14:creationId xmlns:p14="http://schemas.microsoft.com/office/powerpoint/2010/main" val="286317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-338826"/>
            <a:ext cx="19109456" cy="11228511"/>
          </a:xfrm>
          <a:custGeom>
            <a:avLst/>
            <a:gdLst/>
            <a:ahLst/>
            <a:cxnLst/>
            <a:rect l="l" t="t" r="r" b="b"/>
            <a:pathLst>
              <a:path w="19109456" h="11228511">
                <a:moveTo>
                  <a:pt x="0" y="0"/>
                </a:moveTo>
                <a:lnTo>
                  <a:pt x="19109455" y="0"/>
                </a:lnTo>
                <a:lnTo>
                  <a:pt x="19109455" y="11228510"/>
                </a:lnTo>
                <a:lnTo>
                  <a:pt x="0" y="11228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8" b="-42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35201" y="-315966"/>
            <a:ext cx="3439380" cy="10874032"/>
          </a:xfrm>
          <a:custGeom>
            <a:avLst/>
            <a:gdLst/>
            <a:ahLst/>
            <a:cxnLst/>
            <a:rect l="l" t="t" r="r" b="b"/>
            <a:pathLst>
              <a:path w="3439380" h="10874032">
                <a:moveTo>
                  <a:pt x="0" y="0"/>
                </a:moveTo>
                <a:lnTo>
                  <a:pt x="3439380" y="0"/>
                </a:lnTo>
                <a:lnTo>
                  <a:pt x="3439380" y="10874031"/>
                </a:lnTo>
                <a:lnTo>
                  <a:pt x="0" y="10874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6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007062" y="3235918"/>
            <a:ext cx="11970910" cy="377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747"/>
              </a:lnSpc>
            </a:pPr>
            <a:r>
              <a:rPr lang="en-US" sz="10534" b="1" dirty="0" smtClean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БЛАГОДАРИМ </a:t>
            </a:r>
            <a:r>
              <a:rPr lang="en-US" sz="10534" b="1" dirty="0">
                <a:solidFill>
                  <a:srgbClr val="000000"/>
                </a:solidFill>
                <a:latin typeface="Murecho Bold"/>
                <a:ea typeface="Murecho Bold"/>
                <a:cs typeface="Murecho Bold"/>
                <a:sym typeface="Murecho Bold"/>
              </a:rPr>
              <a:t>ЗА        ВНИМАНИЕТО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772</Words>
  <Application>Microsoft Office PowerPoint</Application>
  <PresentationFormat>По избор</PresentationFormat>
  <Paragraphs>112</Paragraphs>
  <Slides>20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20</vt:i4>
      </vt:variant>
    </vt:vector>
  </HeadingPairs>
  <TitlesOfParts>
    <vt:vector size="26" baseType="lpstr">
      <vt:lpstr>Palatino</vt:lpstr>
      <vt:lpstr>Murecho Bold</vt:lpstr>
      <vt:lpstr>Arial</vt:lpstr>
      <vt:lpstr>Calibri</vt:lpstr>
      <vt:lpstr>Palatino Bold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Grey Simple Geometric Group Project Presentation</dc:title>
  <dc:creator>Student</dc:creator>
  <cp:lastModifiedBy>Todor</cp:lastModifiedBy>
  <cp:revision>10</cp:revision>
  <dcterms:created xsi:type="dcterms:W3CDTF">2006-08-16T00:00:00Z</dcterms:created>
  <dcterms:modified xsi:type="dcterms:W3CDTF">2026-03-29T07:28:54Z</dcterms:modified>
  <dc:identifier>DAHFQ7ycYKs</dc:identifier>
</cp:coreProperties>
</file>